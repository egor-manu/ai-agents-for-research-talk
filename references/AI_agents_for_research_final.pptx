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939" r:id="rId2"/>
    <p:sldId id="2147377740" r:id="rId3"/>
    <p:sldId id="2147377742" r:id="rId4"/>
    <p:sldId id="2147377748" r:id="rId5"/>
    <p:sldId id="2147377741" r:id="rId6"/>
    <p:sldId id="2147377767" r:id="rId7"/>
    <p:sldId id="2147377744" r:id="rId8"/>
    <p:sldId id="2147377743" r:id="rId9"/>
    <p:sldId id="2147377745" r:id="rId10"/>
    <p:sldId id="2147377746" r:id="rId11"/>
    <p:sldId id="2147377747" r:id="rId12"/>
    <p:sldId id="2147377749" r:id="rId13"/>
    <p:sldId id="2147377750" r:id="rId14"/>
    <p:sldId id="2147377751" r:id="rId15"/>
    <p:sldId id="2147377752" r:id="rId16"/>
    <p:sldId id="2147377753" r:id="rId17"/>
    <p:sldId id="2147377754" r:id="rId18"/>
    <p:sldId id="2147377757" r:id="rId19"/>
    <p:sldId id="2147377755" r:id="rId20"/>
    <p:sldId id="2147377756" r:id="rId21"/>
    <p:sldId id="2147377758" r:id="rId22"/>
    <p:sldId id="2147377759" r:id="rId23"/>
    <p:sldId id="2147377768" r:id="rId24"/>
    <p:sldId id="2147377760" r:id="rId25"/>
    <p:sldId id="2147377761" r:id="rId26"/>
    <p:sldId id="2147377763" r:id="rId27"/>
    <p:sldId id="2147377762" r:id="rId28"/>
    <p:sldId id="2147377764" r:id="rId29"/>
    <p:sldId id="214737776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C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85106" autoAdjust="0"/>
  </p:normalViewPr>
  <p:slideViewPr>
    <p:cSldViewPr snapToGrid="0">
      <p:cViewPr>
        <p:scale>
          <a:sx n="80" d="100"/>
          <a:sy n="80" d="100"/>
        </p:scale>
        <p:origin x="808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2FDEB8-ABA1-AB0A-858E-EF116EA1EA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2ED6F-9F02-A4DF-BEB6-078F887A4F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6D12E-8ED1-475B-B54C-5C7EE378E126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4BD5-A9A4-3575-20B5-F4E35CBEE9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009CA-38C2-0C0D-92F3-AE1FB484C9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1FD4C-53FB-40E2-870E-BBDD2B332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4770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DE6D2-8757-4066-909D-BC10C704E0FD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0A31A-3AE6-426B-973C-C77B465BB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4291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Close with the main message. AI does not remove the need for expertise. It increases the value of precise scientific judgement. Agents amplify whatever skill level the researcher brings.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76A2-7331-791A-AF7B-5267DC3C8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A02C2-EEE8-FFAD-99E4-FB9C47176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0D494-9F09-3ACB-36A4-02D0CF72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95F7C-3366-C9B9-4A65-98162F22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9B276-5286-6E81-65D3-A5905903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42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D763-6272-7886-10E8-E373E2AA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2DD06-E146-1976-FCC6-D7BBBE6C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18987-1129-4439-A82C-AB6DE710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79C23-29E8-7C86-1483-B6665557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E2E19-0857-2A20-9B59-1443A3BE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9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B4C6-CBA2-8367-0218-A84CA573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88A82-69DC-0872-8E71-78B137EC1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9DF79-1CEB-951A-B369-5BF906C9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0423F-A252-BADF-51B4-E8A51E4F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B13F9-1384-0D99-BAC8-D62271EB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17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DFFD-D0B7-B42D-95E2-C0BDAC8C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024C-AF04-B50F-514E-C981B8B35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F26AE-1CF9-AC7C-25A6-974C07217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87FE3-F757-492F-0F42-69C160E7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465C7-C935-5E42-058C-D8033671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CE9DC-51C8-FF7F-1AD3-5AA78577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4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997C-28D6-BC84-50C2-9142BE78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79FCD-2CE1-1BA7-1E25-8FDCE9C8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7A1F7-9DB7-134F-0BC9-8183E684B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58FF1-C5AC-F810-8727-2030EFD23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2E439-F93C-60BB-715E-781461D5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659CD-0787-974F-CDCA-6BF535C2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5FB17-FF42-9BD9-77E3-61AB859E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DBFB68-FD43-509F-581C-D834F862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693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9D84-5233-594E-7C34-82F9AFCC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A8AA5-188B-4E9F-777D-3F591288D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CEFFB-071D-10EE-D74D-1BF6741A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32244-1C78-69D5-F3B4-C1D7D7DD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52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4B8BE-0CCA-47AA-F07D-182989B24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7B3FF-29D2-37B8-F4CE-1A81E3CA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E58F6-3B6D-498C-915F-05DEF6FB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60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10B6-DABF-AC56-222E-976496D84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B8351-A85B-C258-0C4E-795326AF5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56A12-B9B8-9111-CE86-4DB11083B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684C3-AEEA-E4B3-1C7E-850A2471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69487-F4D8-2755-9EA7-20A443C5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4BA7E-5EB3-5B37-721A-F5BECBA7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4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C13A-A1A3-57B5-E514-D636EB520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E4353-B81B-ECA4-2539-CD79503AB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0E6F-4427-EEDA-F28B-A47F8452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ECC7D-2BE5-7B40-D24B-A532B908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99065-6EE0-3A5C-0F2D-D508BAAA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028D9-7DB6-A88D-AACB-04F27294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13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2E67-7203-36A9-A9BE-BA02FFBF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61EE4-200D-08E3-E745-C495E7309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AB43A-F7DC-C262-3E97-6F97B822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AB9FF-D390-608B-D9AC-BDB7A836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4209C-EFF1-EE87-60AB-0DBD149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83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CFF6B-B767-666B-FCD2-044E06753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43947-C83F-B450-9482-A5C73ED1E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0AAD9-2DC6-29D8-A980-C545F176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34C76-85EA-AF11-14F8-FCEDE45A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29896-08A0-73F8-B8D9-B7044271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505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CD8B34A-2FFE-0644-8B76-F157B6201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8122" b="1812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0F10EC-2924-C0F2-E91B-972B81270BCD}"/>
              </a:ext>
            </a:extLst>
          </p:cNvPr>
          <p:cNvSpPr/>
          <p:nvPr userDrawn="1"/>
        </p:nvSpPr>
        <p:spPr>
          <a:xfrm>
            <a:off x="309218" y="256210"/>
            <a:ext cx="2827174" cy="1673174"/>
          </a:xfrm>
          <a:prstGeom prst="rect">
            <a:avLst/>
          </a:prstGeom>
          <a:solidFill>
            <a:srgbClr val="01081A"/>
          </a:solidFill>
          <a:ln>
            <a:solidFill>
              <a:srgbClr val="0108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105938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0422E6-A140-CF91-7B17-10DB130A4BFC}"/>
              </a:ext>
            </a:extLst>
          </p:cNvPr>
          <p:cNvSpPr/>
          <p:nvPr userDrawn="1"/>
        </p:nvSpPr>
        <p:spPr>
          <a:xfrm>
            <a:off x="0" y="0"/>
            <a:ext cx="12192000" cy="1073427"/>
          </a:xfrm>
          <a:prstGeom prst="rect">
            <a:avLst/>
          </a:prstGeom>
          <a:gradFill flip="none" rotWithShape="1">
            <a:gsLst>
              <a:gs pos="0">
                <a:srgbClr val="610064"/>
              </a:gs>
              <a:gs pos="64000">
                <a:schemeClr val="accent4"/>
              </a:gs>
              <a:gs pos="100000">
                <a:srgbClr val="610064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08756" y="1282046"/>
            <a:ext cx="11202571" cy="5300789"/>
          </a:xfrm>
          <a:prstGeom prst="rect">
            <a:avLst/>
          </a:prstGeom>
        </p:spPr>
        <p:txBody>
          <a:bodyPr vert="horz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600063"/>
              </a:buClr>
              <a:buSzTx/>
              <a:buFont typeface="Arial"/>
              <a:buChar char="•"/>
              <a:tabLst/>
              <a:defRPr sz="1867" baseline="0">
                <a:latin typeface="Arial"/>
                <a:cs typeface="Arial"/>
              </a:defRPr>
            </a:lvl1pPr>
            <a:lvl2pPr>
              <a:defRPr sz="1867">
                <a:latin typeface="Arial"/>
                <a:cs typeface="Arial"/>
              </a:defRPr>
            </a:lvl2pPr>
            <a:lvl3pPr>
              <a:defRPr sz="1867">
                <a:latin typeface="Arial"/>
                <a:cs typeface="Arial"/>
              </a:defRPr>
            </a:lvl3pPr>
            <a:lvl4pPr>
              <a:defRPr sz="1867">
                <a:latin typeface="Arial"/>
                <a:cs typeface="Arial"/>
              </a:defRPr>
            </a:lvl4pPr>
            <a:lvl5pPr>
              <a:defRPr sz="1867"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text</a:t>
            </a:r>
          </a:p>
          <a:p>
            <a:pPr lvl="0"/>
            <a:r>
              <a:rPr lang="en-GB"/>
              <a:t>text</a:t>
            </a:r>
          </a:p>
          <a:p>
            <a:pPr lvl="0"/>
            <a:r>
              <a:rPr lang="en-GB"/>
              <a:t>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359AA-A038-1245-9D52-20676F747896}"/>
              </a:ext>
            </a:extLst>
          </p:cNvPr>
          <p:cNvSpPr txBox="1"/>
          <p:nvPr userDrawn="1"/>
        </p:nvSpPr>
        <p:spPr>
          <a:xfrm>
            <a:off x="11137007" y="6384468"/>
            <a:ext cx="986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FB5099B-FE44-5A42-BA56-6696CD855C2E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AF3734-F6AC-051B-D272-0CBA8FFD8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757" y="275167"/>
            <a:ext cx="9417124" cy="693021"/>
          </a:xfrm>
          <a:prstGeom prst="rect">
            <a:avLst/>
          </a:prstGeom>
        </p:spPr>
        <p:txBody>
          <a:bodyPr vert="horz"/>
          <a:lstStyle>
            <a:lvl1pPr algn="l">
              <a:defRPr sz="3733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1A94B-9E8D-148D-8627-02CC7E1914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369" b="20686"/>
          <a:stretch>
            <a:fillRect/>
          </a:stretch>
        </p:blipFill>
        <p:spPr>
          <a:xfrm>
            <a:off x="9877479" y="104719"/>
            <a:ext cx="2275840" cy="86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7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2D672-9C02-CDF0-D41F-BDAE861D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90DFA-4547-D13A-4603-C1E6BFCDC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5F420-D261-D4BE-31E1-3EF9FFCE9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7CE60-F885-4A8B-94F9-3DE6C871D59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89D9C-C4A7-2E0C-3085-8195611BE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B420-D4CB-F2D6-136E-1AEAB12B7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183A4-67EF-4DCD-8E99-39A50E24A8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15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c/6a08dde5-6b70-83eb-8f60-b04852f85e8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58ACB-B74C-872B-BDA4-AAE27BABC9F6}"/>
              </a:ext>
            </a:extLst>
          </p:cNvPr>
          <p:cNvSpPr txBox="1"/>
          <p:nvPr/>
        </p:nvSpPr>
        <p:spPr>
          <a:xfrm>
            <a:off x="519784" y="4114800"/>
            <a:ext cx="105585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solidFill>
                  <a:schemeClr val="bg1"/>
                </a:solidFill>
                <a:latin typeface="+mj-lt"/>
              </a:rPr>
              <a:t>Egor Manuylovich</a:t>
            </a:r>
          </a:p>
          <a:p>
            <a:r>
              <a:rPr lang="en-GB" sz="2400" noProof="0" dirty="0">
                <a:solidFill>
                  <a:schemeClr val="bg1"/>
                </a:solidFill>
                <a:latin typeface="+mj-lt"/>
              </a:rPr>
              <a:t>Aston Institute of Photonic Technologies </a:t>
            </a:r>
          </a:p>
          <a:p>
            <a:r>
              <a:rPr lang="en-GB" sz="2400" noProof="0" dirty="0">
                <a:solidFill>
                  <a:schemeClr val="bg1"/>
                </a:solidFill>
                <a:latin typeface="+mj-lt"/>
              </a:rPr>
              <a:t>Aston University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9A4F95-445E-2FB1-5102-AA41F2E1E1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41" b="21212"/>
          <a:stretch>
            <a:fillRect/>
          </a:stretch>
        </p:blipFill>
        <p:spPr>
          <a:xfrm>
            <a:off x="9387141" y="56571"/>
            <a:ext cx="2630032" cy="973944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6549E1B-1D41-FA41-9ED8-82AE85899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60" y="1488565"/>
            <a:ext cx="11464841" cy="2656715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5867" b="1" noProof="0" dirty="0">
                <a:solidFill>
                  <a:schemeClr val="bg1"/>
                </a:solidFill>
                <a:latin typeface="Trebuchet MS" panose="020B0603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AI agents for research: simulations, experimental automation, and visualisation</a:t>
            </a:r>
            <a:endParaRPr lang="en-GB" sz="5867" b="1" noProof="0" dirty="0">
              <a:solidFill>
                <a:schemeClr val="bg1"/>
              </a:solidFill>
              <a:effectLst/>
              <a:latin typeface="Trebuchet MS" panose="020B0603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14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What this talk is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463040"/>
            <a:ext cx="731520" cy="109728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600" b="1" noProof="0" dirty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9304" y="1463040"/>
            <a:ext cx="10424160" cy="1097280"/>
          </a:xfrm>
          <a:prstGeom prst="rect">
            <a:avLst/>
          </a:prstGeom>
          <a:solidFill>
            <a:srgbClr val="8A6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Introduction to coding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2670048"/>
            <a:ext cx="731520" cy="10972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600" b="1" noProof="0" dirty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2670048"/>
            <a:ext cx="10424160" cy="1097280"/>
          </a:xfrm>
          <a:prstGeom prst="rect">
            <a:avLst/>
          </a:prstGeom>
          <a:solidFill>
            <a:srgbClr val="E5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GB" sz="2200" b="1" noProof="0" dirty="0">
                <a:solidFill>
                  <a:srgbClr val="1A1A2E"/>
                </a:solidFill>
                <a:latin typeface="Trebuchet MS"/>
              </a:rPr>
              <a:t>Scientific simulations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3877056"/>
            <a:ext cx="731520" cy="109728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600" b="1" noProof="0" dirty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9304" y="3877056"/>
            <a:ext cx="10424160" cy="1097280"/>
          </a:xfrm>
          <a:prstGeom prst="rect">
            <a:avLst/>
          </a:prstGeom>
          <a:solidFill>
            <a:srgbClr val="8A6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Experimental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5084064"/>
            <a:ext cx="731520" cy="10972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600" b="1" noProof="0" dirty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5084064"/>
            <a:ext cx="10424160" cy="1097280"/>
          </a:xfrm>
          <a:prstGeom prst="rect">
            <a:avLst/>
          </a:prstGeom>
          <a:solidFill>
            <a:srgbClr val="E5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GB" sz="2200" b="1" noProof="0" dirty="0">
                <a:solidFill>
                  <a:srgbClr val="1A1A2E"/>
                </a:solidFill>
                <a:latin typeface="Trebuchet MS"/>
              </a:rPr>
              <a:t>Scientific visualisation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What are AI coding agents?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3063240" cy="5029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3904" y="1508760"/>
            <a:ext cx="3611880" cy="5029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What it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44383" y="1508760"/>
            <a:ext cx="4023360" cy="5029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2057400"/>
            <a:ext cx="3063240" cy="960120"/>
          </a:xfrm>
          <a:prstGeom prst="rect">
            <a:avLst/>
          </a:prstGeom>
          <a:solidFill>
            <a:srgbClr val="F1EEF4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Chatbot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3904" y="2057400"/>
            <a:ext cx="3611880" cy="960120"/>
          </a:xfrm>
          <a:prstGeom prst="rect">
            <a:avLst/>
          </a:prstGeom>
          <a:solidFill>
            <a:srgbClr val="F1EEF4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Answers questions and generates code snippets on demand.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44383" y="2057400"/>
            <a:ext cx="4023360" cy="960120"/>
          </a:xfrm>
          <a:prstGeom prst="rect">
            <a:avLst/>
          </a:prstGeom>
          <a:solidFill>
            <a:srgbClr val="F1EEF4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ChatGPT, Claude</a:t>
            </a:r>
            <a:r>
              <a:rPr lang="en-GB" sz="1700" noProof="0" dirty="0">
                <a:solidFill>
                  <a:srgbClr val="1A1A2E"/>
                </a:solidFill>
                <a:latin typeface="Trebuchet MS"/>
              </a:rPr>
              <a:t>, Gemini…</a:t>
            </a:r>
            <a:endParaRPr lang="en-GB" sz="1700" b="0" noProof="0" dirty="0">
              <a:solidFill>
                <a:srgbClr val="1A1A2E"/>
              </a:solidFill>
              <a:latin typeface="Trebuchet M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2064" y="3063240"/>
            <a:ext cx="3063240" cy="960120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Autocomplete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3904" y="3063240"/>
            <a:ext cx="3611880" cy="960120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Suggests code while typing, one line or block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44383" y="3063240"/>
            <a:ext cx="4023360" cy="960120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GitHub Copilot, Cursor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4069080"/>
            <a:ext cx="3063240" cy="960120"/>
          </a:xfrm>
          <a:prstGeom prst="rect">
            <a:avLst/>
          </a:prstGeom>
          <a:solidFill>
            <a:srgbClr val="E5F1F8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03904" y="4069080"/>
            <a:ext cx="3611880" cy="960120"/>
          </a:xfrm>
          <a:prstGeom prst="rect">
            <a:avLst/>
          </a:prstGeom>
          <a:solidFill>
            <a:srgbClr val="E5F1F8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Reads files, edits codebases, runs tests, sees errors, iterates.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44383" y="4069080"/>
            <a:ext cx="4023360" cy="960120"/>
          </a:xfrm>
          <a:prstGeom prst="rect">
            <a:avLst/>
          </a:prstGeom>
          <a:solidFill>
            <a:srgbClr val="E5F1F8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Claude Code, Codex</a:t>
            </a:r>
            <a:r>
              <a:rPr lang="en-GB" sz="1700" dirty="0">
                <a:solidFill>
                  <a:srgbClr val="1A1A2E"/>
                </a:solidFill>
                <a:latin typeface="Trebuchet MS"/>
              </a:rPr>
              <a:t>, Gemini, Cursor</a:t>
            </a:r>
            <a:endParaRPr lang="en-GB" sz="1700" b="0" noProof="0" dirty="0">
              <a:solidFill>
                <a:srgbClr val="1A1A2E"/>
              </a:solidFill>
              <a:latin typeface="Trebuchet M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" y="5212080"/>
            <a:ext cx="11201400" cy="621792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Key thing: agents can inspect files, modify codebases, </a:t>
            </a:r>
            <a:r>
              <a:rPr lang="en-GB" b="1" dirty="0">
                <a:solidFill>
                  <a:srgbClr val="FFFFFF"/>
                </a:solidFill>
                <a:latin typeface="Trebuchet MS"/>
              </a:rPr>
              <a:t>write/</a:t>
            </a:r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execute tests, and iterate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AI-assisted simulations: what changes?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5463540" cy="50292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075688"/>
            <a:ext cx="546354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Slow, manual simulation setup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Fragmented scripts per use-case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Manual plotting and formatting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Limited parameter-space exploration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Documentation as an afterthought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9924" y="1508760"/>
            <a:ext cx="5463540" cy="50292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9924" y="2075688"/>
            <a:ext cx="546354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Parameter sweeps generated quickly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Plotting pipelines automated end-to-end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Tests and docs added early in the cycle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Faster hypothesis iteration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Modular, reusable simulation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4112199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12064" y="4266530"/>
            <a:ext cx="1120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Examples: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757" y="4663440"/>
            <a:ext cx="112014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GB" sz="1700" noProof="0" dirty="0">
                <a:solidFill>
                  <a:srgbClr val="1A1A2E"/>
                </a:solidFill>
                <a:latin typeface="Trebuchet MS"/>
              </a:rPr>
              <a:t>Adopting OOP style and feeling its benefits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Mapping photonic devices to NN layers</a:t>
            </a:r>
            <a:endParaRPr lang="en-GB" sz="1700" noProof="0" dirty="0">
              <a:solidFill>
                <a:srgbClr val="1A1A2E"/>
              </a:solidFill>
              <a:latin typeface="Trebuchet MS"/>
            </a:endParaRPr>
          </a:p>
          <a:p>
            <a:pPr>
              <a:spcBef>
                <a:spcPts val="500"/>
              </a:spcBef>
            </a:pPr>
            <a:r>
              <a:rPr lang="en-GB" sz="1700" noProof="0" dirty="0">
                <a:solidFill>
                  <a:srgbClr val="1A1A2E"/>
                </a:solidFill>
                <a:latin typeface="Trebuchet MS"/>
              </a:rPr>
              <a:t>Procedural plots</a:t>
            </a:r>
            <a:endParaRPr lang="en-GB" sz="1700" b="0" noProof="0" dirty="0">
              <a:solidFill>
                <a:srgbClr val="1A1A2E"/>
              </a:solidFill>
              <a:latin typeface="Trebuchet MS"/>
            </a:endParaRP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Mode decomposition with orthogonality constraints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Optical interferometer phase simulator with analytical benchmarks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34EC2E-703D-DFA2-F5C7-8359359F53C0}"/>
              </a:ext>
            </a:extLst>
          </p:cNvPr>
          <p:cNvSpPr txBox="1"/>
          <p:nvPr/>
        </p:nvSpPr>
        <p:spPr>
          <a:xfrm>
            <a:off x="508757" y="6320304"/>
            <a:ext cx="1120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noProof="0" dirty="0">
                <a:solidFill>
                  <a:srgbClr val="606070"/>
                </a:solidFill>
                <a:latin typeface="Trebuchet MS"/>
              </a:rPr>
              <a:t>(my own coding skills improved so much after I started using LLMs for coding!)</a:t>
            </a:r>
            <a:endParaRPr lang="en-GB" sz="1800" b="0" noProof="0" dirty="0">
              <a:solidFill>
                <a:srgbClr val="606070"/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The research bottleneck is shifting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600200"/>
            <a:ext cx="1417320" cy="65836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0" noProof="0" dirty="0">
                <a:solidFill>
                  <a:srgbClr val="FFFFFF"/>
                </a:solidFill>
                <a:latin typeface="Trebuchet MS"/>
              </a:rPr>
              <a:t>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764792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441448" y="1600200"/>
            <a:ext cx="1417320" cy="65836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0" noProof="0" dirty="0">
                <a:solidFill>
                  <a:srgbClr val="FFFFFF"/>
                </a:solidFill>
                <a:latin typeface="Trebuchet MS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1764792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22776" y="1600200"/>
            <a:ext cx="1417320" cy="6583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096" y="1764792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4104" y="1600200"/>
            <a:ext cx="1417320" cy="6583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764792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85432" y="1600200"/>
            <a:ext cx="1417320" cy="6583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764792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600200"/>
            <a:ext cx="1417320" cy="6583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764792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600200"/>
            <a:ext cx="1417320" cy="65836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0" noProof="0" dirty="0">
                <a:solidFill>
                  <a:srgbClr val="FFFFFF"/>
                </a:solidFill>
                <a:latin typeface="Trebuchet MS"/>
              </a:rPr>
              <a:t>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423160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b="0" noProof="0" dirty="0">
                <a:solidFill>
                  <a:srgbClr val="606070"/>
                </a:solidFill>
                <a:latin typeface="Trebuchet MS"/>
              </a:rPr>
              <a:t>Highlighted stages: the software bottlenecks where agents can help most.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88036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512064" y="3017520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noProof="0" dirty="0">
                <a:solidFill>
                  <a:srgbClr val="724878"/>
                </a:solidFill>
                <a:latin typeface="Trebuchet MS"/>
              </a:rPr>
              <a:t>Research is increasingly software-heavy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310127"/>
            <a:ext cx="11201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Researchers spend significant time on glue code, plotting, automation, UI, debugging, and data wrangling — not just science.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3960332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noProof="0" dirty="0">
                <a:solidFill>
                  <a:srgbClr val="724878"/>
                </a:solidFill>
                <a:latin typeface="Trebuchet MS"/>
              </a:rPr>
              <a:t>AI agents reduce software friction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52941"/>
            <a:ext cx="11201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Agents can generate, test, refactor, and document software far faster than writing it from scratch.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00B5EC-46E6-78F3-0B8E-AFA4B30BCA99}"/>
              </a:ext>
            </a:extLst>
          </p:cNvPr>
          <p:cNvSpPr txBox="1"/>
          <p:nvPr/>
        </p:nvSpPr>
        <p:spPr>
          <a:xfrm>
            <a:off x="512064" y="4766326"/>
            <a:ext cx="11201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noProof="0" dirty="0">
                <a:solidFill>
                  <a:srgbClr val="724878"/>
                </a:solidFill>
                <a:latin typeface="Trebuchet MS"/>
              </a:rPr>
              <a:t>You can now develop things which would take too long to be feasible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7165C4-7E95-C2C7-32C3-ACAF72548572}"/>
              </a:ext>
            </a:extLst>
          </p:cNvPr>
          <p:cNvSpPr txBox="1"/>
          <p:nvPr/>
        </p:nvSpPr>
        <p:spPr>
          <a:xfrm>
            <a:off x="512064" y="5058934"/>
            <a:ext cx="11201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00" noProof="0" dirty="0">
                <a:solidFill>
                  <a:srgbClr val="1A1A2E"/>
                </a:solidFill>
                <a:latin typeface="Trebuchet MS"/>
              </a:rPr>
              <a:t>From "writing code" to "specifying and validating systems."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990AC1-8DE5-E8AE-C046-9777E26853F7}"/>
              </a:ext>
            </a:extLst>
          </p:cNvPr>
          <p:cNvSpPr txBox="1"/>
          <p:nvPr/>
        </p:nvSpPr>
        <p:spPr>
          <a:xfrm>
            <a:off x="1461883" y="5516607"/>
            <a:ext cx="9726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“Computer simulation is the third branch of science, complementing theory and experiment.”</a:t>
            </a:r>
          </a:p>
          <a:p>
            <a:r>
              <a:rPr lang="en-GB" sz="1400" noProof="0" dirty="0">
                <a:solidFill>
                  <a:schemeClr val="bg1">
                    <a:lumMod val="50000"/>
                  </a:schemeClr>
                </a:solidFill>
              </a:rPr>
              <a:t>Robert E. Caflisch, </a:t>
            </a:r>
            <a:r>
              <a:rPr lang="en-GB" sz="1400" i="1" noProof="0" dirty="0">
                <a:solidFill>
                  <a:schemeClr val="bg1">
                    <a:lumMod val="50000"/>
                  </a:schemeClr>
                </a:solidFill>
              </a:rPr>
              <a:t>“Monte Carlo and quasi-Monte Carlo methods”</a:t>
            </a:r>
            <a:r>
              <a:rPr lang="en-GB" sz="1400" noProof="0" dirty="0">
                <a:solidFill>
                  <a:schemeClr val="bg1">
                    <a:lumMod val="50000"/>
                  </a:schemeClr>
                </a:solidFill>
              </a:rPr>
              <a:t>, Acta Numerica, 1998.</a:t>
            </a:r>
            <a:endParaRPr lang="en-GB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34BE87-8056-7EC8-15EB-344DD3C1CEBA}"/>
              </a:ext>
            </a:extLst>
          </p:cNvPr>
          <p:cNvSpPr/>
          <p:nvPr/>
        </p:nvSpPr>
        <p:spPr>
          <a:xfrm>
            <a:off x="0" y="6333892"/>
            <a:ext cx="12192000" cy="524107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Many things are easy to verify and much harder to solve.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D3F8AF-3980-807B-36C7-C51E6407B85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74469" y="1100215"/>
            <a:ext cx="4941971" cy="530066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B2670-5367-CCA0-03B0-546A0024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DCAC9-C10B-FE33-5070-398295C91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216" y="1425748"/>
            <a:ext cx="5546276" cy="40065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CA0B9-1BA8-5FCD-5EAF-2BAE1503AC63}"/>
              </a:ext>
            </a:extLst>
          </p:cNvPr>
          <p:cNvSpPr/>
          <p:nvPr/>
        </p:nvSpPr>
        <p:spPr>
          <a:xfrm>
            <a:off x="0" y="6333892"/>
            <a:ext cx="12192000" cy="524107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Many things are easy to verify and much harder to solve.</a:t>
            </a:r>
          </a:p>
        </p:txBody>
      </p:sp>
    </p:spTree>
    <p:extLst>
      <p:ext uri="{BB962C8B-B14F-4D97-AF65-F5344CB8AC3E}">
        <p14:creationId xmlns:p14="http://schemas.microsoft.com/office/powerpoint/2010/main" val="268368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Vibe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11201400" cy="685800"/>
          </a:xfrm>
          <a:prstGeom prst="rect">
            <a:avLst/>
          </a:prstGeom>
          <a:solidFill>
            <a:srgbClr val="F1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  Fast prompting with minimal planning — "make me a simulator" — and iterating until it looks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331720"/>
            <a:ext cx="5463540" cy="43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Good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834640"/>
            <a:ext cx="546354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One-off scripts and quick plots</a:t>
            </a:r>
          </a:p>
          <a:p>
            <a:pPr algn="l">
              <a:spcBef>
                <a:spcPts val="6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Educational demos and toy simulations</a:t>
            </a:r>
          </a:p>
          <a:p>
            <a:pPr algn="l">
              <a:spcBef>
                <a:spcPts val="6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Small GUIs and data explorers</a:t>
            </a:r>
          </a:p>
          <a:p>
            <a:pPr algn="l">
              <a:spcBef>
                <a:spcPts val="6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Fast hypothesis sketching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9924" y="2331720"/>
            <a:ext cx="5463540" cy="438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9924" y="2834640"/>
            <a:ext cx="54635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Hard to maintain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Hidden bugs that look fine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900" noProof="0" dirty="0">
                <a:solidFill>
                  <a:srgbClr val="1A1A2E"/>
                </a:solidFill>
                <a:latin typeface="Trebuchet MS"/>
              </a:rPr>
              <a:t>Progressively harder to modify</a:t>
            </a:r>
            <a:endParaRPr lang="en-GB" sz="1900" b="0" noProof="0" dirty="0">
              <a:solidFill>
                <a:srgbClr val="1A1A2E"/>
              </a:solidFill>
              <a:latin typeface="Trebuchet MS"/>
            </a:endParaRP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Poor reproducibility (same prompt -&gt; different results)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Difficult to extend or validate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5394959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83625" y="6171950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0" noProof="0" dirty="0">
                <a:solidFill>
                  <a:srgbClr val="606070"/>
                </a:solidFill>
                <a:latin typeface="Trebuchet MS"/>
              </a:rPr>
              <a:t>Simple optical simulation from a single prompt</a:t>
            </a:r>
          </a:p>
          <a:p>
            <a:pPr algn="ctr"/>
            <a:r>
              <a:rPr lang="en-GB" sz="1600" noProof="0" dirty="0">
                <a:solidFill>
                  <a:srgbClr val="606070"/>
                </a:solidFill>
                <a:latin typeface="Trebuchet MS"/>
                <a:hlinkClick r:id="rId3"/>
              </a:rPr>
              <a:t>https://chatgpt.com/c/6a08dde5-6b70-83eb-8f60-b04852f85e8c</a:t>
            </a:r>
            <a:r>
              <a:rPr lang="en-GB" sz="1600" noProof="0" dirty="0">
                <a:solidFill>
                  <a:srgbClr val="606070"/>
                </a:solidFill>
                <a:latin typeface="Trebuchet MS"/>
              </a:rPr>
              <a:t> </a:t>
            </a:r>
            <a:endParaRPr lang="en-GB" sz="1600" b="0" noProof="0" dirty="0">
              <a:solidFill>
                <a:srgbClr val="606070"/>
              </a:solidFill>
              <a:latin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02C6F-80E5-6082-42C4-C253B8C82EAB}"/>
              </a:ext>
            </a:extLst>
          </p:cNvPr>
          <p:cNvSpPr/>
          <p:nvPr/>
        </p:nvSpPr>
        <p:spPr>
          <a:xfrm>
            <a:off x="495300" y="5510230"/>
            <a:ext cx="11201400" cy="529911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4400" b="1" noProof="0" dirty="0">
                <a:solidFill>
                  <a:srgbClr val="FFFFFF"/>
                </a:solidFill>
                <a:latin typeface="Trebuchet MS"/>
              </a:rPr>
              <a:t>DEMO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What agents are good at — and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5417820" cy="502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Good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075688"/>
            <a:ext cx="541782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APIs, wrappers</a:t>
            </a:r>
            <a:r>
              <a:rPr lang="en-GB" sz="1900" noProof="0" dirty="0">
                <a:solidFill>
                  <a:srgbClr val="1A1A2E"/>
                </a:solidFill>
                <a:latin typeface="Trebuchet MS"/>
              </a:rPr>
              <a:t>, boilerplate/templates</a:t>
            </a:r>
            <a:endParaRPr lang="en-GB" sz="1900" b="0" noProof="0" dirty="0">
              <a:solidFill>
                <a:srgbClr val="1A1A2E"/>
              </a:solidFill>
              <a:latin typeface="Trebuchet MS"/>
            </a:endParaRPr>
          </a:p>
          <a:p>
            <a:pPr marL="342900" indent="-3429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Plotting and interactive dashboards</a:t>
            </a:r>
          </a:p>
          <a:p>
            <a:pPr marL="342900" indent="-3429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File handling and data pipelines</a:t>
            </a:r>
          </a:p>
          <a:p>
            <a:pPr marL="342900" indent="-3429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Refactoring and documentation</a:t>
            </a:r>
          </a:p>
          <a:p>
            <a:pPr marL="342900" indent="-3429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chemeClr val="accent6"/>
                </a:solidFill>
                <a:latin typeface="Trebuchet MS"/>
              </a:rPr>
              <a:t>Connecting vendor SDKs</a:t>
            </a:r>
          </a:p>
          <a:p>
            <a:pPr marL="342900" indent="-3429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Writing and running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4204" y="1508760"/>
            <a:ext cx="5417820" cy="502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Weak 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4204" y="2075688"/>
            <a:ext cx="541782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FF0000"/>
                </a:solidFill>
                <a:latin typeface="Trebuchet MS"/>
              </a:rPr>
              <a:t>Scientific correctness</a:t>
            </a:r>
          </a:p>
          <a:p>
            <a:pPr algn="l">
              <a:spcBef>
                <a:spcPts val="4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Hidden physical assumptions</a:t>
            </a:r>
          </a:p>
          <a:p>
            <a:pPr algn="l">
              <a:spcBef>
                <a:spcPts val="400"/>
              </a:spcBef>
            </a:pPr>
            <a:r>
              <a:rPr lang="en-GB" sz="1900" b="0" noProof="0" dirty="0">
                <a:solidFill>
                  <a:srgbClr val="FF0000"/>
                </a:solidFill>
                <a:latin typeface="Trebuchet MS"/>
              </a:rPr>
              <a:t>Numerical validity and stability</a:t>
            </a:r>
          </a:p>
          <a:p>
            <a:pPr algn="l">
              <a:spcBef>
                <a:spcPts val="4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Physical intuition</a:t>
            </a:r>
          </a:p>
          <a:p>
            <a:pPr algn="l">
              <a:spcBef>
                <a:spcPts val="4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Domain-specific conventions</a:t>
            </a:r>
          </a:p>
          <a:p>
            <a:pPr algn="l">
              <a:spcBef>
                <a:spcPts val="4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Reproducibility (without constraints)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594360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12064" y="6035040"/>
            <a:ext cx="11201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noProof="0" dirty="0">
                <a:solidFill>
                  <a:srgbClr val="724878"/>
                </a:solidFill>
                <a:latin typeface="Trebuchet MS"/>
              </a:rPr>
              <a:t>The researcher remains the scientific authority (i.e. is responsible for the result!)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Vibe coding -&gt; spec-driven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11201400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100" b="1" noProof="0" dirty="0">
                <a:solidFill>
                  <a:srgbClr val="FFFFFF"/>
                </a:solidFill>
                <a:latin typeface="Trebuchet MS"/>
              </a:rPr>
              <a:t>Treat the AI agent as a junior research software engineer.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3" y="2221992"/>
            <a:ext cx="1645920" cy="6583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6624" y="2423160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›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2344" y="2221992"/>
            <a:ext cx="1645920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Equations /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8264" y="2423160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3983" y="2221992"/>
            <a:ext cx="1645920" cy="6583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9903" y="2423160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5624" y="2221992"/>
            <a:ext cx="1645920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2423160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7264" y="2221992"/>
            <a:ext cx="1645920" cy="6583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4" y="2423160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noProof="0" dirty="0">
                <a:solidFill>
                  <a:srgbClr val="606070"/>
                </a:solidFill>
                <a:latin typeface="Trebuchet MS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18904" y="2221992"/>
            <a:ext cx="1645920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306324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12064" y="31729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agent.md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3172968"/>
            <a:ext cx="9098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Project instruction file: physics, architecture, tests, conventions.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904487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Acceptance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3904487"/>
            <a:ext cx="90982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Define what correct output looks like before you start coding (</a:t>
            </a:r>
            <a:r>
              <a:rPr lang="en-GB" sz="1900" noProof="0" dirty="0">
                <a:solidFill>
                  <a:srgbClr val="1A1A2E"/>
                </a:solidFill>
                <a:latin typeface="Trebuchet MS"/>
              </a:rPr>
              <a:t>e</a:t>
            </a: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.</a:t>
            </a:r>
            <a:r>
              <a:rPr lang="en-GB" sz="1900" noProof="0" dirty="0">
                <a:solidFill>
                  <a:srgbClr val="1A1A2E"/>
                </a:solidFill>
                <a:latin typeface="Trebuchet MS"/>
              </a:rPr>
              <a:t>g</a:t>
            </a: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. check energy conservation, edge cases, etc</a:t>
            </a:r>
            <a:r>
              <a:rPr lang="en-GB" sz="1900" noProof="0" dirty="0">
                <a:solidFill>
                  <a:srgbClr val="1A1A2E"/>
                </a:solidFill>
                <a:latin typeface="Trebuchet MS"/>
              </a:rPr>
              <a:t>.)</a:t>
            </a:r>
            <a:endParaRPr lang="en-GB" sz="1900" b="0" noProof="0" dirty="0">
              <a:solidFill>
                <a:srgbClr val="1A1A2E"/>
              </a:solidFill>
              <a:latin typeface="Trebuchet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2064" y="4636007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Project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4636007"/>
            <a:ext cx="9098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Modular design allows agents to work on isolated components.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5367527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Reproducibility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5184" y="5367527"/>
            <a:ext cx="9098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Specs make it possible to re-run, audit, and extend the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Why specs and tests matter in science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11201400" cy="749808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600" b="1" noProof="0" dirty="0">
                <a:solidFill>
                  <a:srgbClr val="FFFFFF"/>
                </a:solidFill>
                <a:latin typeface="Trebuchet MS"/>
              </a:rPr>
              <a:t>In research, "looks correct" is not sufficient.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423160"/>
            <a:ext cx="5509260" cy="4114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Physical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880360"/>
            <a:ext cx="53721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Steady-state vs dynamic assumptions must be explicit; Orthogonality from 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4204" y="2423160"/>
            <a:ext cx="5509260" cy="4114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Interferometer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5644" y="2880360"/>
            <a:ext cx="53721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Sign convention for reflection vs transmission matters.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4297680"/>
            <a:ext cx="5509260" cy="4114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Propagation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754880"/>
            <a:ext cx="53721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Phase accumulation direction determines physical meaning: Raman shift is to longer wavelengths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4204" y="4297680"/>
            <a:ext cx="5509260" cy="4114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Energy conservation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5644" y="4754880"/>
            <a:ext cx="53721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Orthogonality constraint must be built into the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Human-agent research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5463540" cy="5029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075688"/>
            <a:ext cx="546354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Defines the physics and mathematics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Writes the specification (agent.md/spec.md)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Sets acceptance criteria and tests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Validates outputs against theory/edge cases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Checks physical meaning of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9924" y="1508760"/>
            <a:ext cx="5463540" cy="50292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9924" y="2075688"/>
            <a:ext cx="546354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Creates project structure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Implements modules from the spec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Writes tests and runs sweeps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Refactors and documents code</a:t>
            </a:r>
          </a:p>
          <a:p>
            <a:pPr algn="l">
              <a:spcBef>
                <a:spcPts val="800"/>
              </a:spcBef>
            </a:pPr>
            <a:r>
              <a:rPr lang="en-GB" sz="1900" b="0" noProof="0" dirty="0">
                <a:solidFill>
                  <a:srgbClr val="1A1A2E"/>
                </a:solidFill>
                <a:latin typeface="Trebuchet MS"/>
              </a:rPr>
              <a:t>Builds plots and dashboards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67044" y="1508760"/>
            <a:ext cx="36576" cy="301752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Rectangle 8"/>
          <p:cNvSpPr/>
          <p:nvPr/>
        </p:nvSpPr>
        <p:spPr>
          <a:xfrm>
            <a:off x="512064" y="480060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12064" y="5577840"/>
            <a:ext cx="1120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0" noProof="0" dirty="0">
                <a:solidFill>
                  <a:srgbClr val="606070"/>
                </a:solidFill>
                <a:latin typeface="Trebuchet MS"/>
              </a:rPr>
              <a:t>You do the science, and agent is your hard-working buddy. You check each step and specify the tests!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4F5303-E32D-A868-130B-341B72819ACD}"/>
              </a:ext>
            </a:extLst>
          </p:cNvPr>
          <p:cNvSpPr/>
          <p:nvPr/>
        </p:nvSpPr>
        <p:spPr>
          <a:xfrm>
            <a:off x="0" y="6144768"/>
            <a:ext cx="12192000" cy="713232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ebuchet MS"/>
              </a:rPr>
              <a:t>Iteration is useful only if each cycle includes 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/>
              </a:rPr>
              <a:t>explicit validation</a:t>
            </a:r>
            <a:endParaRPr lang="en-US" sz="2000" b="1" dirty="0">
              <a:solidFill>
                <a:srgbClr val="FFFFFF"/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Example simulation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3611879" cy="59436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Stage 1
Physics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194560"/>
            <a:ext cx="347472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Define governing equations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Physical assumptions (State gain saturation model/steady state/dynamical)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Specify conventions (FFT sign, phase conventions)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List known edge cases to test against</a:t>
            </a:r>
          </a:p>
          <a:p>
            <a:pPr algn="l">
              <a:spcBef>
                <a:spcPts val="800"/>
              </a:spcBef>
            </a:pPr>
            <a:endParaRPr lang="en-GB" sz="1700" b="0" noProof="0" dirty="0">
              <a:solidFill>
                <a:srgbClr val="1A1A2E"/>
              </a:solidFill>
              <a:latin typeface="Trebuchet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1376" y="178308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6823" y="1508760"/>
            <a:ext cx="3611879" cy="59436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Stage 2
Implementation &amp;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8263" y="2194560"/>
            <a:ext cx="3474720" cy="259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Agent creates module structure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Implements operators from spec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Writes unit tests for each module</a:t>
            </a:r>
          </a:p>
          <a:p>
            <a:pPr algn="l">
              <a:spcBef>
                <a:spcPts val="800"/>
              </a:spcBef>
            </a:pPr>
            <a:r>
              <a:rPr lang="en-GB" sz="1700" noProof="0" dirty="0">
                <a:solidFill>
                  <a:srgbClr val="1A1A2E"/>
                </a:solidFill>
                <a:latin typeface="Trebuchet MS"/>
              </a:rPr>
              <a:t>Writes physical tests (energy/momentum conservation, photon number conservation…)</a:t>
            </a:r>
            <a:endParaRPr lang="en-GB" sz="1700" b="0" noProof="0" dirty="0">
              <a:solidFill>
                <a:srgbClr val="1A1A2E"/>
              </a:solidFill>
              <a:latin typeface="Trebuchet MS"/>
            </a:endParaRP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Runs limiting-case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6135" y="178308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1583" y="1508760"/>
            <a:ext cx="3611879" cy="59436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Stage 3
Plots &amp;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3" y="2194560"/>
            <a:ext cx="34747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Agent generates parameter sweeps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Plots transfer functions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Human interprets results</a:t>
            </a:r>
          </a:p>
          <a:p>
            <a:pPr algn="l">
              <a:spcBef>
                <a:spcPts val="8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Revise spec if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Debugging with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50876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noProof="0" dirty="0">
                <a:solidFill>
                  <a:srgbClr val="724878"/>
                </a:solidFill>
                <a:latin typeface="Trebuchet MS"/>
              </a:rPr>
              <a:t>Typical subtle bugs in AI-generated scientific software: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39112"/>
            <a:ext cx="3474720" cy="274320"/>
          </a:xfrm>
          <a:prstGeom prst="rect">
            <a:avLst/>
          </a:prstGeom>
          <a:solidFill>
            <a:srgbClr val="F1EEF4"/>
          </a:solidFill>
          <a:ln w="12700">
            <a:solidFill>
              <a:srgbClr val="B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1" noProof="0" dirty="0">
                <a:solidFill>
                  <a:srgbClr val="BF1F1F"/>
                </a:solidFill>
                <a:latin typeface="Trebuchet MS"/>
              </a:rPr>
              <a:t>Wrong beamsplitter convention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8224" y="2039112"/>
            <a:ext cx="76352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Reflection and transmission phases differ by π which is easy to miss.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2697480"/>
            <a:ext cx="3474720" cy="274320"/>
          </a:xfrm>
          <a:prstGeom prst="rect">
            <a:avLst/>
          </a:prstGeom>
          <a:solidFill>
            <a:srgbClr val="F1EEF4"/>
          </a:solidFill>
          <a:ln w="12700">
            <a:solidFill>
              <a:srgbClr val="B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1" noProof="0" dirty="0">
                <a:solidFill>
                  <a:srgbClr val="BF1F1F"/>
                </a:solidFill>
                <a:latin typeface="Trebuchet MS"/>
              </a:rPr>
              <a:t>Arm-length sum vs.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8224" y="2697480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The phase depends on the difference, not the sum of arm lengths.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3355848"/>
            <a:ext cx="3474720" cy="274320"/>
          </a:xfrm>
          <a:prstGeom prst="rect">
            <a:avLst/>
          </a:prstGeom>
          <a:solidFill>
            <a:srgbClr val="F1EEF4"/>
          </a:solidFill>
          <a:ln w="12700">
            <a:solidFill>
              <a:srgbClr val="B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1" noProof="0" dirty="0">
                <a:solidFill>
                  <a:srgbClr val="BF1F1F"/>
                </a:solidFill>
                <a:latin typeface="Trebuchet MS"/>
              </a:rPr>
              <a:t>Propagation sign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224" y="3355848"/>
            <a:ext cx="76352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Sign convention in </a:t>
            </a:r>
            <a:r>
              <a:rPr lang="en-GB" sz="1700" b="0" i="1" noProof="0" dirty="0" err="1">
                <a:solidFill>
                  <a:srgbClr val="1A1A2E"/>
                </a:solidFill>
                <a:latin typeface="Trebuchet MS"/>
              </a:rPr>
              <a:t>e</a:t>
            </a:r>
            <a:r>
              <a:rPr lang="en-GB" sz="1700" b="0" i="1" baseline="30000" noProof="0" dirty="0" err="1">
                <a:solidFill>
                  <a:srgbClr val="1A1A2E"/>
                </a:solidFill>
                <a:latin typeface="Trebuchet MS"/>
              </a:rPr>
              <a:t>ikz</a:t>
            </a: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 changes whether wave converges or diverges.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4014215"/>
            <a:ext cx="3474720" cy="274320"/>
          </a:xfrm>
          <a:prstGeom prst="rect">
            <a:avLst/>
          </a:prstGeom>
          <a:solidFill>
            <a:srgbClr val="F1EEF4"/>
          </a:solidFill>
          <a:ln w="12700">
            <a:solidFill>
              <a:srgbClr val="B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1" noProof="0" dirty="0">
                <a:solidFill>
                  <a:srgbClr val="BF1F1F"/>
                </a:solidFill>
                <a:latin typeface="Trebuchet MS"/>
              </a:rPr>
              <a:t>Numerical instability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4014215"/>
            <a:ext cx="76352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Can be hidden by plotting and only revealed by edge case tests.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4672583"/>
            <a:ext cx="3474720" cy="274320"/>
          </a:xfrm>
          <a:prstGeom prst="rect">
            <a:avLst/>
          </a:prstGeom>
          <a:solidFill>
            <a:srgbClr val="F1EEF4"/>
          </a:solidFill>
          <a:ln w="12700">
            <a:solidFill>
              <a:srgbClr val="B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GB" sz="1700" b="1" noProof="0" dirty="0">
                <a:solidFill>
                  <a:srgbClr val="BF1F1F"/>
                </a:solidFill>
                <a:latin typeface="Trebuchet MS"/>
              </a:rPr>
              <a:t>Unit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8224" y="4672583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Mixing radians and degrees, or nm and </a:t>
            </a:r>
            <a:r>
              <a:rPr lang="en-GB" sz="1700" b="0" noProof="0" dirty="0" err="1">
                <a:solidFill>
                  <a:srgbClr val="1A1A2E"/>
                </a:solidFill>
                <a:latin typeface="Trebuchet MS"/>
              </a:rPr>
              <a:t>μm</a:t>
            </a: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, in intermediate variables.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553212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/>
          <p:cNvSpPr/>
          <p:nvPr/>
        </p:nvSpPr>
        <p:spPr>
          <a:xfrm>
            <a:off x="512064" y="5623559"/>
            <a:ext cx="11201400" cy="621792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Agents speed up debugging and testing, but they also generate subtle scientific bugs.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Testing scientific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2000" cy="713232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"If you cannot define a test, you probably do not yet understand the system."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757" y="1480213"/>
            <a:ext cx="5486400" cy="438912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Test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757" y="1983133"/>
            <a:ext cx="5486400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Unit tests per module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Physical limiting cases</a:t>
            </a:r>
            <a:r>
              <a:rPr lang="en-GB" noProof="0" dirty="0">
                <a:solidFill>
                  <a:srgbClr val="1A1A2E"/>
                </a:solidFill>
                <a:latin typeface="Trebuchet MS"/>
              </a:rPr>
              <a:t>/edge cases</a:t>
            </a:r>
            <a:endParaRPr lang="en-GB" sz="1800" b="0" noProof="0" dirty="0">
              <a:solidFill>
                <a:srgbClr val="1A1A2E"/>
              </a:solidFill>
              <a:latin typeface="Trebuchet MS"/>
            </a:endParaRP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Conservation law checks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Symmetry and reciprocity tests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Analytical benchmark comparisons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Parameter sensitivity scans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3757" y="1480213"/>
            <a:ext cx="5486400" cy="438912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Science-specific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757" y="1983133"/>
            <a:ext cx="5486400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Zero nonlinearity → linear propagation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Zero length → identity transfer matrix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Lossless system → energy conservation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Symmetric beamsplitter → equal splitting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Phase wrap at 2π → field continuity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Degenerate modes → orthogonal eigenfunctions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Live demo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691640"/>
            <a:ext cx="11201400" cy="109728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4400" b="1" noProof="0" dirty="0">
                <a:solidFill>
                  <a:srgbClr val="FFFFFF"/>
                </a:solidFill>
                <a:latin typeface="Trebuchet MS"/>
              </a:rPr>
              <a:t>LIVE DEMO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971800"/>
            <a:ext cx="11201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b="1" noProof="0" dirty="0">
                <a:solidFill>
                  <a:srgbClr val="1A1A2E"/>
                </a:solidFill>
                <a:latin typeface="Trebuchet MS"/>
              </a:rPr>
              <a:t>AI-assisted simulation: Optical Circuit Lab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The traditional lab software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508760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noProof="0" dirty="0">
                <a:solidFill>
                  <a:srgbClr val="724878"/>
                </a:solidFill>
                <a:latin typeface="Trebuchet MS"/>
              </a:rPr>
              <a:t>Researchers often juggle separate software for every instrument: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11680"/>
            <a:ext cx="3581400" cy="91440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Laser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2011680"/>
            <a:ext cx="3581400" cy="91440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Oscilloscope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8536" y="2011680"/>
            <a:ext cx="3581400" cy="91440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SLM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3127248"/>
            <a:ext cx="3581400" cy="91440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Camera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7" y="3127248"/>
            <a:ext cx="3581400" cy="91440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Motion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8536" y="3127248"/>
            <a:ext cx="3581400" cy="914400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Power 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4297679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12064" y="4416551"/>
            <a:ext cx="11201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Pain points: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4754879"/>
            <a:ext cx="1120140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Manual clicking with no scripting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Poor reproducibility between sessions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No synchronisation between devices</a:t>
            </a:r>
          </a:p>
          <a:p>
            <a:pPr algn="l">
              <a:spcBef>
                <a:spcPts val="7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Every new experiment needs custom tooling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AI-generated lab orchestration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508760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noProof="0" dirty="0">
                <a:solidFill>
                  <a:srgbClr val="724878"/>
                </a:solidFill>
                <a:latin typeface="Trebuchet MS"/>
              </a:rPr>
              <a:t>Modern instruments expose programmable interfaces: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965960"/>
            <a:ext cx="3581400" cy="6400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SCPI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965960"/>
            <a:ext cx="3581400" cy="6400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VISA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2063" y="1965960"/>
            <a:ext cx="3581400" cy="6400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Serial / RS-232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770632"/>
            <a:ext cx="3581400" cy="6400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Python SDKs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2770632"/>
            <a:ext cx="3581400" cy="6400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REST APIs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2063" y="2770632"/>
            <a:ext cx="3581400" cy="6400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USB HID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356616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12064" y="3685032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2F78A3"/>
                </a:solidFill>
                <a:latin typeface="Trebuchet MS"/>
              </a:rPr>
              <a:t>How agents help: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4050791"/>
            <a:ext cx="11201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Read vendor examples and docs and write device wrappers automatically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Connect multiple device wrappers into a unified Python backend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Generate a dashboard (</a:t>
            </a:r>
            <a:r>
              <a:rPr lang="en-GB" sz="1800" b="0" noProof="0" dirty="0" err="1">
                <a:solidFill>
                  <a:srgbClr val="1A1A2E"/>
                </a:solidFill>
                <a:latin typeface="Trebuchet MS"/>
              </a:rPr>
              <a:t>FastAPI</a:t>
            </a: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 + </a:t>
            </a:r>
            <a:r>
              <a:rPr lang="en-GB" sz="1800" b="0" noProof="0" dirty="0" err="1">
                <a:solidFill>
                  <a:srgbClr val="1A1A2E"/>
                </a:solidFill>
                <a:latin typeface="Trebuchet MS"/>
              </a:rPr>
              <a:t>PyQt</a:t>
            </a: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 / </a:t>
            </a:r>
            <a:r>
              <a:rPr lang="en-GB" sz="1800" b="0" noProof="0" dirty="0" err="1">
                <a:solidFill>
                  <a:srgbClr val="1A1A2E"/>
                </a:solidFill>
                <a:latin typeface="Trebuchet MS"/>
              </a:rPr>
              <a:t>Streamlit</a:t>
            </a: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) in a single session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Write automated experiment sequences with logging and error handling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>
                <a:latin typeface="Trebuchet MS"/>
              </a:rPr>
              <a:t>From orchestration to closed-loop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2203704" cy="9601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Instrument
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5768" y="176479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1488" y="1508760"/>
            <a:ext cx="2203704" cy="96012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5192" y="176479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0912" y="1508760"/>
            <a:ext cx="2203704" cy="9601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4616" y="176479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1508760"/>
            <a:ext cx="2203704" cy="96012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Optimiser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76479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1508760"/>
            <a:ext cx="2203704" cy="9601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600" b="1" noProof="0" dirty="0">
                <a:solidFill>
                  <a:srgbClr val="FFFFFF"/>
                </a:solidFill>
                <a:latin typeface="Trebuchet MS"/>
              </a:rPr>
              <a:t>Updated
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514600"/>
            <a:ext cx="10469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b="0" noProof="0" dirty="0">
                <a:solidFill>
                  <a:srgbClr val="606070"/>
                </a:solidFill>
                <a:latin typeface="Trebuchet MS"/>
              </a:rPr>
              <a:t>(closed loop: output of analysis feeds back into instrument control)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297180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12064" y="3081528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noProof="0" dirty="0">
                <a:solidFill>
                  <a:srgbClr val="724878"/>
                </a:solidFill>
                <a:latin typeface="Trebuchet MS"/>
              </a:rPr>
              <a:t>Closed-loop possibilities: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447288"/>
            <a:ext cx="112014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Phase stabilisation and active correction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Adaptive measurement: focus where variance is highest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Bayesian optimisation of experimental parameters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Autonomous photonics experiments with minimal human intervention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Reinforcement learning for alignment or mode matching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>
                <a:latin typeface="Trebuchet MS"/>
              </a:rPr>
              <a:t>Example: SLM and camera control software</a:t>
            </a:r>
          </a:p>
        </p:txBody>
      </p:sp>
      <p:pic>
        <p:nvPicPr>
          <p:cNvPr id="4" name="Picture 3" descr="photo_2026-05-16_22-44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4" y="1100254"/>
            <a:ext cx="10278691" cy="5307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064" y="6464807"/>
            <a:ext cx="11201400" cy="41148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400" b="0" noProof="0" dirty="0">
                <a:solidFill>
                  <a:srgbClr val="FFFFFF"/>
                </a:solidFill>
                <a:latin typeface="Trebuchet MS"/>
              </a:rPr>
              <a:t>Custom software for SLM-camera calibration and automatic dataset acquisition  |  Callouts: live camera · SLM pattern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Real example: phase masks and calibration</a:t>
            </a:r>
          </a:p>
        </p:txBody>
      </p:sp>
      <p:pic>
        <p:nvPicPr>
          <p:cNvPr id="4" name="Picture 3" descr="photo_2026-05-16_22-44-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50" y="1137425"/>
            <a:ext cx="10480638" cy="524850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064" y="6464807"/>
            <a:ext cx="11201400" cy="4114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400" b="0" noProof="0" dirty="0">
                <a:solidFill>
                  <a:srgbClr val="FFFFFF"/>
                </a:solidFill>
                <a:latin typeface="Trebuchet MS"/>
              </a:rPr>
              <a:t>From manual alignment to reproducible dataset generation  |  Callouts: measured optical field · generated phase mask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Live demo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691640"/>
            <a:ext cx="11201400" cy="109728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4400" b="1" noProof="0" dirty="0">
                <a:solidFill>
                  <a:srgbClr val="FFFFFF"/>
                </a:solidFill>
                <a:latin typeface="Trebuchet MS"/>
              </a:rPr>
              <a:t>LIVE DEMO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971800"/>
            <a:ext cx="11201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noProof="0" dirty="0">
                <a:solidFill>
                  <a:srgbClr val="1A1A2E"/>
                </a:solidFill>
                <a:latin typeface="Trebuchet MS"/>
              </a:rPr>
              <a:t>Custom SLM-camera control and lab orchestration software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Scientific visualisation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11201400" cy="658368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Publication-quality figures require(d) a completely different skill: 3D modelling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313432"/>
            <a:ext cx="5486400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Top-journal figures must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834640"/>
            <a:ext cx="5486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Communicate the physical mechanism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Guide the reader's intuition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Look </a:t>
            </a:r>
            <a:r>
              <a:rPr lang="en-GB" b="1" noProof="0" dirty="0">
                <a:solidFill>
                  <a:schemeClr val="accent6"/>
                </a:solidFill>
                <a:latin typeface="Trebuchet MS"/>
              </a:rPr>
              <a:t>nice</a:t>
            </a:r>
            <a:r>
              <a:rPr lang="en-GB" noProof="0" dirty="0">
                <a:solidFill>
                  <a:srgbClr val="1A1A2E"/>
                </a:solidFill>
                <a:latin typeface="Trebuchet MS"/>
              </a:rPr>
              <a:t>, </a:t>
            </a: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deliberate and unambiguous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Be reproducible from the source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7064" y="2313432"/>
            <a:ext cx="54864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800" b="1" noProof="0" dirty="0">
                <a:solidFill>
                  <a:srgbClr val="FFFFFF"/>
                </a:solidFill>
                <a:latin typeface="Trebuchet M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2834640"/>
            <a:ext cx="5486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Blender is </a:t>
            </a:r>
            <a:r>
              <a:rPr lang="en-GB" noProof="0" dirty="0">
                <a:solidFill>
                  <a:srgbClr val="1A1A2E"/>
                </a:solidFill>
                <a:latin typeface="Trebuchet MS"/>
              </a:rPr>
              <a:t>perfect but the </a:t>
            </a: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learning curve is steep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Photorealistic ≠ scientifically correct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Revisions require re-doing geometry</a:t>
            </a:r>
          </a:p>
          <a:p>
            <a:pPr algn="l">
              <a:spcBef>
                <a:spcPts val="800"/>
              </a:spcBef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Researchers often lack 3D modelling expertise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5897880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12064" y="6007607"/>
            <a:ext cx="11201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900" b="1" noProof="0" dirty="0">
                <a:solidFill>
                  <a:srgbClr val="2F78A3"/>
                </a:solidFill>
                <a:latin typeface="Trebuchet MS"/>
              </a:rPr>
              <a:t>Solution: AI agents controlling Blender via the Model Context Protocol (MCP).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2E29FAE-4645-9C98-313B-3219A2DF1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14"/>
          <a:stretch>
            <a:fillRect/>
          </a:stretch>
        </p:blipFill>
        <p:spPr bwMode="auto">
          <a:xfrm>
            <a:off x="4390031" y="4272383"/>
            <a:ext cx="3122980" cy="157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210B58E0-1066-3138-3D03-47D876F2AE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28"/>
          <a:stretch>
            <a:fillRect/>
          </a:stretch>
        </p:blipFill>
        <p:spPr bwMode="auto">
          <a:xfrm>
            <a:off x="8254589" y="4295866"/>
            <a:ext cx="3342584" cy="157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y Blender is the Best Software for Scientists Starting in 3D">
            <a:extLst>
              <a:ext uri="{FF2B5EF4-FFF2-40B4-BE49-F238E27FC236}">
                <a16:creationId xmlns:a16="http://schemas.microsoft.com/office/drawing/2014/main" id="{4DB5E5E9-DFB6-FB36-8933-5B17B2329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4" y="4290136"/>
            <a:ext cx="2817572" cy="158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5DCADD-4372-ECF5-945D-412153F7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The good, the bad and the ugly</a:t>
            </a:r>
          </a:p>
        </p:txBody>
      </p:sp>
      <p:pic>
        <p:nvPicPr>
          <p:cNvPr id="2050" name="Picture 2" descr="The rat with the big balls and the enormous penis – how Frontiers published  a paper with botched AI-generated images – Science Integrity Digest">
            <a:extLst>
              <a:ext uri="{FF2B5EF4-FFF2-40B4-BE49-F238E27FC236}">
                <a16:creationId xmlns:a16="http://schemas.microsoft.com/office/drawing/2014/main" id="{17F6AB22-60AB-C819-BC05-1C261DB66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761" y="1277357"/>
            <a:ext cx="4061735" cy="382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ver art for Nature Photonics Aug 2022 issue: Artist impression of a self calibrating photonic chip">
            <a:extLst>
              <a:ext uri="{FF2B5EF4-FFF2-40B4-BE49-F238E27FC236}">
                <a16:creationId xmlns:a16="http://schemas.microsoft.com/office/drawing/2014/main" id="{6F2B773E-C294-12A7-5EEA-304A042DCDA5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1" y="1150964"/>
            <a:ext cx="3225779" cy="428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g. 1. -- Experimental setups for capturing a) near-field intensity distribution, b) far-field distribution and c) both near and far-field intensity distributions.">
            <a:extLst>
              <a:ext uri="{FF2B5EF4-FFF2-40B4-BE49-F238E27FC236}">
                <a16:creationId xmlns:a16="http://schemas.microsoft.com/office/drawing/2014/main" id="{41CDAE94-7C3B-302B-CE18-4AA8125B6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037" y="1320450"/>
            <a:ext cx="4444497" cy="382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0AEDE3-E098-0D6F-5261-5348F0AE04FB}"/>
              </a:ext>
            </a:extLst>
          </p:cNvPr>
          <p:cNvSpPr txBox="1"/>
          <p:nvPr/>
        </p:nvSpPr>
        <p:spPr>
          <a:xfrm>
            <a:off x="643800" y="5615228"/>
            <a:ext cx="1649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noProof="0" dirty="0">
                <a:solidFill>
                  <a:srgbClr val="2F78A3"/>
                </a:solidFill>
                <a:latin typeface="Trebuchet MS"/>
              </a:rPr>
              <a:t>Good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DDD47-17E1-14E4-C630-BF2B0F0CA287}"/>
              </a:ext>
            </a:extLst>
          </p:cNvPr>
          <p:cNvSpPr txBox="1"/>
          <p:nvPr/>
        </p:nvSpPr>
        <p:spPr>
          <a:xfrm>
            <a:off x="4971920" y="5615228"/>
            <a:ext cx="1649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noProof="0" dirty="0">
                <a:solidFill>
                  <a:srgbClr val="2F78A3"/>
                </a:solidFill>
                <a:latin typeface="Trebuchet MS"/>
              </a:rPr>
              <a:t>Bad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E3A34-687D-665C-1C91-3636FFD1E2BA}"/>
              </a:ext>
            </a:extLst>
          </p:cNvPr>
          <p:cNvSpPr txBox="1"/>
          <p:nvPr/>
        </p:nvSpPr>
        <p:spPr>
          <a:xfrm>
            <a:off x="9300041" y="5620070"/>
            <a:ext cx="1649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noProof="0" dirty="0">
                <a:solidFill>
                  <a:srgbClr val="2F78A3"/>
                </a:solidFill>
                <a:latin typeface="Trebuchet MS"/>
              </a:rPr>
              <a:t>Ugly</a:t>
            </a:r>
          </a:p>
        </p:txBody>
      </p:sp>
    </p:spTree>
    <p:extLst>
      <p:ext uri="{BB962C8B-B14F-4D97-AF65-F5344CB8AC3E}">
        <p14:creationId xmlns:p14="http://schemas.microsoft.com/office/powerpoint/2010/main" val="2309583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Blender MCP +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54480"/>
            <a:ext cx="2203704" cy="9601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Text
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5768" y="181051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1488" y="1554480"/>
            <a:ext cx="2203704" cy="96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Agent
(Codex/Claude/...)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5192" y="181051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0912" y="1554480"/>
            <a:ext cx="2203704" cy="9601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Blender MCP
(Python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4616" y="181051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1554480"/>
            <a:ext cx="2203704" cy="96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Scene +
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810512"/>
            <a:ext cx="4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1554480"/>
            <a:ext cx="2203704" cy="9601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Final
Figure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679191"/>
            <a:ext cx="112014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12064" y="2788920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What the agent controls in Blender: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1729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2F78A3"/>
                </a:solidFill>
                <a:latin typeface="Trebuchet MS"/>
              </a:rPr>
              <a:t>Geometry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3172968"/>
            <a:ext cx="6962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Meshes, curves, arrays, </a:t>
            </a:r>
            <a:r>
              <a:rPr lang="en-GB" sz="1800" b="0" noProof="0" dirty="0" err="1">
                <a:solidFill>
                  <a:srgbClr val="1A1A2E"/>
                </a:solidFill>
                <a:latin typeface="Trebuchet MS"/>
              </a:rPr>
              <a:t>boolean</a:t>
            </a: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 operations: build yours using a text description.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8587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2F78A3"/>
                </a:solidFill>
                <a:latin typeface="Trebuchet MS"/>
              </a:rPr>
              <a:t>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3858768"/>
            <a:ext cx="6598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PBR shaders, emission, glass, subsurface: all physically based by default.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5445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2F78A3"/>
                </a:solidFill>
                <a:latin typeface="Trebuchet MS"/>
              </a:rPr>
              <a:t>Lighting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4544568"/>
            <a:ext cx="556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HDRI environments, area lights, point 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5230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2F78A3"/>
                </a:solidFill>
                <a:latin typeface="Trebuchet MS"/>
              </a:rPr>
              <a:t>Camera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984" y="5230368"/>
            <a:ext cx="6544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Field of view, depth of field, focal plane. </a:t>
            </a:r>
            <a:r>
              <a:rPr lang="en-GB" noProof="0" dirty="0">
                <a:solidFill>
                  <a:srgbClr val="1A1A2E"/>
                </a:solidFill>
                <a:latin typeface="Trebuchet MS"/>
              </a:rPr>
              <a:t>Easier to set yourself: choose one you like!</a:t>
            </a:r>
            <a:endParaRPr lang="en-GB" sz="1800" b="0" noProof="0" dirty="0">
              <a:solidFill>
                <a:srgbClr val="1A1A2E"/>
              </a:solidFill>
              <a:latin typeface="Trebuchet M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064" y="5916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2F78A3"/>
                </a:solidFill>
                <a:latin typeface="Trebuchet MS"/>
              </a:rPr>
              <a:t>Animation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7984" y="5916168"/>
            <a:ext cx="6544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Keyframes, physics sims, camera paths</a:t>
            </a:r>
            <a:r>
              <a:rPr lang="en-GB" noProof="0" dirty="0">
                <a:solidFill>
                  <a:srgbClr val="1A1A2E"/>
                </a:solidFill>
                <a:latin typeface="Trebuchet MS"/>
              </a:rPr>
              <a:t>:</a:t>
            </a: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 for figures and supplementary material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41FF744-668E-AA70-CF27-19A2E1681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493" y="3200401"/>
            <a:ext cx="3054507" cy="307355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341D35E-CBA3-FCD1-DFEA-137A295610A2}"/>
              </a:ext>
            </a:extLst>
          </p:cNvPr>
          <p:cNvSpPr txBox="1"/>
          <p:nvPr/>
        </p:nvSpPr>
        <p:spPr>
          <a:xfrm>
            <a:off x="9726429" y="6283413"/>
            <a:ext cx="2184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0" dirty="0">
                <a:solidFill>
                  <a:schemeClr val="accent2"/>
                </a:solidFill>
                <a:latin typeface="Trebuchet MS"/>
              </a:rPr>
              <a:t>Blender MCP 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Example visualisation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2731770" cy="749808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1  Describe
physical scene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13432"/>
            <a:ext cx="26220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You write a clear text spec: geometry, scale, material, camera angle.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52977" y="1673352"/>
            <a:ext cx="73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5274" y="1508760"/>
            <a:ext cx="2731770" cy="74980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2  Generate
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8426" y="2313432"/>
            <a:ext cx="262204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Agent writes Blender Python script, creates objects, applies materials.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6188" y="1673352"/>
            <a:ext cx="73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8483" y="1508760"/>
            <a:ext cx="2731770" cy="749808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3  Check scientific
correctness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1636" y="2313432"/>
            <a:ext cx="26220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YOU verify the geometry, proportions, and physical conventions.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9398" y="1673352"/>
            <a:ext cx="73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noProof="0" dirty="0">
                <a:solidFill>
                  <a:srgbClr val="606070"/>
                </a:solidFill>
                <a:latin typeface="Trebuchet M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1694" y="1508760"/>
            <a:ext cx="2731770" cy="74980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500" b="1" noProof="0" dirty="0">
                <a:solidFill>
                  <a:srgbClr val="FFFFFF"/>
                </a:solidFill>
                <a:latin typeface="Trebuchet MS"/>
              </a:rPr>
              <a:t>4  Render
and 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4846" y="2313432"/>
            <a:ext cx="262204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Iterate on lighting and camera; export final PNG / animation.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3408926"/>
            <a:ext cx="1120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Example from my work: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90" y="3810622"/>
            <a:ext cx="6640403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Multimode fibre propagation: field intensity visualised in 3D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Phase-mask geometry: actual SLM pixel structure is rendered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Optical table system: full bench layout for a methods figure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Speckle-to-speckle transformation: real wavefront evolution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4A9B3-3078-7F8B-529D-12FA878A1449}"/>
              </a:ext>
            </a:extLst>
          </p:cNvPr>
          <p:cNvSpPr txBox="1"/>
          <p:nvPr/>
        </p:nvSpPr>
        <p:spPr>
          <a:xfrm>
            <a:off x="279590" y="5599768"/>
            <a:ext cx="624544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You can do so much more, including scripted 3D animations, guided by real physics, just put the right data to the agent and verify the result.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BE0A1F-5E9D-0E50-E5F1-8664ADE06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091" y="3248061"/>
            <a:ext cx="5414909" cy="36099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Practical advice for PhD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11201400" cy="5029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 noProof="0" dirty="0">
                <a:solidFill>
                  <a:srgbClr val="FFFFFF"/>
                </a:solidFill>
                <a:latin typeface="Trebuchet MS"/>
              </a:rPr>
              <a:t>Six habits that separate rigorous agent use from vibe coding: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130552"/>
            <a:ext cx="475488" cy="65836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130552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Learn basic Python and Git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59736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You need to read and review agent output. You cannot do that without basics.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98648"/>
            <a:ext cx="475488" cy="65836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98648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Start with small, well-defined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227832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A single-device wrapper or a plotting script is the right first project.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3666744"/>
            <a:ext cx="475488" cy="65836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666744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Write agent.md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95928"/>
            <a:ext cx="10634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Write the spec before prompting. It forces you to think about the problem (you can use LLM but DO validate 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434840"/>
            <a:ext cx="475488" cy="65836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34840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Always ask for tests, not just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764024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"Write tests for the edge cases you just specified" is a powerful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5202936"/>
            <a:ext cx="475488" cy="65836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202936"/>
            <a:ext cx="10634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Validate output. Always!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532120"/>
            <a:ext cx="10634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Try to break the output. </a:t>
            </a:r>
            <a:r>
              <a:rPr lang="en-GB" sz="1600" b="0" noProof="0" dirty="0">
                <a:solidFill>
                  <a:schemeClr val="accent2"/>
                </a:solidFill>
                <a:latin typeface="Trebuchet MS"/>
              </a:rPr>
              <a:t>Compare with known limits or analytical results (same as for your own code)</a:t>
            </a:r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5971031"/>
            <a:ext cx="475488" cy="65836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200" b="1" noProof="0" dirty="0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971031"/>
            <a:ext cx="10634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noProof="0" dirty="0">
                <a:solidFill>
                  <a:srgbClr val="724878"/>
                </a:solidFill>
                <a:latin typeface="Trebuchet MS"/>
              </a:rPr>
              <a:t>Keep reproducible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6300216"/>
            <a:ext cx="10634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noProof="0" dirty="0">
                <a:solidFill>
                  <a:srgbClr val="1A1A2E"/>
                </a:solidFill>
                <a:latin typeface="Trebuchet MS"/>
              </a:rPr>
              <a:t>Always use git, l</a:t>
            </a:r>
            <a:r>
              <a:rPr lang="en-GB" sz="1600" b="0" noProof="0" dirty="0">
                <a:solidFill>
                  <a:srgbClr val="1A1A2E"/>
                </a:solidFill>
                <a:latin typeface="Trebuchet MS"/>
              </a:rPr>
              <a:t>og the spec, the agent session, and the validation results together.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Limits and pitfalls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08760"/>
            <a:ext cx="1120140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100" b="1" noProof="0" dirty="0">
                <a:solidFill>
                  <a:srgbClr val="FFFFFF"/>
                </a:solidFill>
                <a:latin typeface="Trebuchet MS"/>
              </a:rPr>
              <a:t>Plausible wrongness is more dangerous than obvious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194560"/>
            <a:ext cx="54864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900" b="1" noProof="0" dirty="0">
                <a:solidFill>
                  <a:srgbClr val="FFFFFF"/>
                </a:solidFill>
                <a:latin typeface="Trebuchet MS"/>
              </a:rPr>
              <a:t>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715768"/>
            <a:ext cx="5486400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Plausible but incorrect code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Hidden physical assumptions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Geometrically convincing but wrong figures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Weak reproducibility without version control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Over-trust in demo outputs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Spec-less "vibe" coding for production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7064" y="2194560"/>
            <a:ext cx="5486400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900" b="1" noProof="0" dirty="0">
                <a:solidFill>
                  <a:srgbClr val="FFFFFF"/>
                </a:solidFill>
                <a:latin typeface="Trebuchet MS"/>
              </a:rPr>
              <a:t>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2715768"/>
            <a:ext cx="5486400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Write specs before coding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Define tests that can fail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Validate against analytical limits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Commit everything to version control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Human reviews every output</a:t>
            </a:r>
          </a:p>
          <a:p>
            <a:pPr marL="285750" indent="-285750" algn="l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GB" sz="1800" b="0" noProof="0" dirty="0">
                <a:solidFill>
                  <a:srgbClr val="1A1A2E"/>
                </a:solidFill>
                <a:latin typeface="Trebuchet MS"/>
              </a:rPr>
              <a:t>Treat agent output as a first draft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Recommended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490472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0" noProof="0" dirty="0">
                <a:solidFill>
                  <a:srgbClr val="606070"/>
                </a:solidFill>
                <a:latin typeface="Trebuchet MS"/>
              </a:rPr>
              <a:t>A practical starting point — not the only path: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947672"/>
            <a:ext cx="5463540" cy="475488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Coding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478024"/>
            <a:ext cx="5326379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Python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VS Code / </a:t>
            </a:r>
            <a:r>
              <a:rPr lang="en-GB" sz="1700" b="0" noProof="0" dirty="0" err="1">
                <a:solidFill>
                  <a:srgbClr val="1A1A2E"/>
                </a:solidFill>
                <a:latin typeface="Trebuchet MS"/>
              </a:rPr>
              <a:t>JupyterLab</a:t>
            </a:r>
            <a:endParaRPr lang="en-GB" sz="1700" b="0" noProof="0" dirty="0">
              <a:solidFill>
                <a:srgbClr val="1A1A2E"/>
              </a:solidFill>
              <a:latin typeface="Trebuchet MS"/>
            </a:endParaRP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Git + GitHub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NumPy · SciPy · Matplotlib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9923" y="1947672"/>
            <a:ext cx="5463540" cy="47548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1363" y="2478024"/>
            <a:ext cx="5326379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Claude Code (CLI)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Cursor (IDE)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GitHub Copilot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OpenAI Codex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4279392"/>
            <a:ext cx="5463540" cy="475488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Apps &amp;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809744"/>
            <a:ext cx="5326379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 err="1">
                <a:solidFill>
                  <a:srgbClr val="1A1A2E"/>
                </a:solidFill>
                <a:latin typeface="Trebuchet MS"/>
              </a:rPr>
              <a:t>FastAPI</a:t>
            </a: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 + </a:t>
            </a:r>
            <a:r>
              <a:rPr lang="en-GB" sz="1700" b="0" noProof="0" dirty="0" err="1">
                <a:solidFill>
                  <a:srgbClr val="1A1A2E"/>
                </a:solidFill>
                <a:latin typeface="Trebuchet MS"/>
              </a:rPr>
              <a:t>PyQt</a:t>
            </a: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 / </a:t>
            </a:r>
            <a:r>
              <a:rPr lang="en-GB" sz="1700" b="0" noProof="0" dirty="0" err="1">
                <a:solidFill>
                  <a:srgbClr val="1A1A2E"/>
                </a:solidFill>
                <a:latin typeface="Trebuchet MS"/>
              </a:rPr>
              <a:t>Streamlit</a:t>
            </a:r>
            <a:endParaRPr lang="en-GB" sz="1700" b="0" noProof="0" dirty="0">
              <a:solidFill>
                <a:srgbClr val="1A1A2E"/>
              </a:solidFill>
              <a:latin typeface="Trebuchet MS"/>
            </a:endParaRP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Docker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NumPy pipelines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9923" y="4279392"/>
            <a:ext cx="5463540" cy="475488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1700" b="1" noProof="0" dirty="0">
                <a:solidFill>
                  <a:srgbClr val="FFFFFF"/>
                </a:solidFill>
                <a:latin typeface="Trebuchet MS"/>
              </a:rPr>
              <a:t>Visualisation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1363" y="4809744"/>
            <a:ext cx="5326379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Blender + Blender MCP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Matplotlib / Plotly</a:t>
            </a:r>
          </a:p>
          <a:p>
            <a:pPr algn="l">
              <a:spcBef>
                <a:spcPts val="500"/>
              </a:spcBef>
            </a:pPr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Napari (microscopy)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Trebuchet MS"/>
              </a:rPr>
              <a:t>The future researcher skillset: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315661"/>
            <a:ext cx="11201400" cy="74174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100" b="1" noProof="0" dirty="0">
                <a:solidFill>
                  <a:srgbClr val="FFFFFF"/>
                </a:solidFill>
                <a:latin typeface="Trebuchet MS"/>
              </a:rPr>
              <a:t>AI does not remove the need for expertise, it raises its value. </a:t>
            </a:r>
          </a:p>
          <a:p>
            <a:pPr algn="ctr"/>
            <a:r>
              <a:rPr lang="en-US" sz="2100" b="1" dirty="0">
                <a:solidFill>
                  <a:srgbClr val="FFFFFF"/>
                </a:solidFill>
                <a:latin typeface="Trebuchet MS"/>
              </a:rPr>
              <a:t>Agents </a:t>
            </a:r>
            <a:r>
              <a:rPr lang="en-US" sz="21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rebuchet MS"/>
              </a:rPr>
              <a:t>amplify</a:t>
            </a:r>
            <a:r>
              <a:rPr lang="en-US" sz="2100" b="1" dirty="0">
                <a:solidFill>
                  <a:srgbClr val="FFFFFF"/>
                </a:solidFill>
                <a:latin typeface="Trebuchet MS"/>
              </a:rPr>
              <a:t> whatever skill level the researcher brings.</a:t>
            </a:r>
            <a:endParaRPr lang="en-GB" sz="2100" b="1" noProof="0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064" y="2185416"/>
            <a:ext cx="201168" cy="7315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04672" y="2185416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Domain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3288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Deep knowledge of your field is non-negotiable — agents cannot substitute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3035808"/>
            <a:ext cx="201168" cy="73152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04672" y="3035808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2F78A3"/>
                </a:solidFill>
                <a:latin typeface="Trebuchet MS"/>
              </a:rPr>
              <a:t>Specification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8328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Ability to describe precisely what a system should do, at the level of equations and tests.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3886200"/>
            <a:ext cx="201168" cy="7315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04672" y="3886200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Validation mindset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336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Healthy scepticism toward any output. Ask "how would I know if this is wrong?".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736592"/>
            <a:ext cx="201168" cy="731520"/>
          </a:xfrm>
          <a:prstGeom prst="rect">
            <a:avLst/>
          </a:prstGeom>
          <a:solidFill>
            <a:srgbClr val="2F7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04672" y="4736592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2F78A3"/>
                </a:solidFill>
                <a:latin typeface="Trebuchet MS"/>
              </a:rPr>
              <a:t>Software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084064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Basic understanding of modular design, interfaces, and testability.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5586983"/>
            <a:ext cx="201168" cy="731520"/>
          </a:xfrm>
          <a:prstGeom prst="rect">
            <a:avLst/>
          </a:prstGeom>
          <a:solidFill>
            <a:srgbClr val="72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04672" y="5586983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900" b="1" noProof="0" dirty="0">
                <a:solidFill>
                  <a:srgbClr val="724878"/>
                </a:solidFill>
                <a:latin typeface="Trebuchet MS"/>
              </a:rPr>
              <a:t>AI collaboration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934455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0" noProof="0" dirty="0">
                <a:solidFill>
                  <a:srgbClr val="1A1A2E"/>
                </a:solidFill>
                <a:latin typeface="Trebuchet MS"/>
              </a:rPr>
              <a:t>Knowing what to delegate, how to check, and when to take back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12872</TotalTime>
  <Words>2142</Words>
  <Application>Microsoft Office PowerPoint</Application>
  <PresentationFormat>Widescreen</PresentationFormat>
  <Paragraphs>379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Trebuchet MS</vt:lpstr>
      <vt:lpstr>Office Theme</vt:lpstr>
      <vt:lpstr>PowerPoint Presentation</vt:lpstr>
      <vt:lpstr>What this talk is about</vt:lpstr>
      <vt:lpstr>What are AI coding agents?</vt:lpstr>
      <vt:lpstr>AI-assisted simulations: what changes?</vt:lpstr>
      <vt:lpstr>The research bottleneck is shifting</vt:lpstr>
      <vt:lpstr>Examples</vt:lpstr>
      <vt:lpstr>Vibe coding</vt:lpstr>
      <vt:lpstr>What agents are good at — and not</vt:lpstr>
      <vt:lpstr>Vibe coding -&gt; spec-driven development</vt:lpstr>
      <vt:lpstr>Why specs and tests matter in science</vt:lpstr>
      <vt:lpstr>Human-agent research loop</vt:lpstr>
      <vt:lpstr>Example simulation workflow</vt:lpstr>
      <vt:lpstr>Debugging with agents</vt:lpstr>
      <vt:lpstr>Testing scientific software</vt:lpstr>
      <vt:lpstr>Live demo 1</vt:lpstr>
      <vt:lpstr>The traditional lab software problem</vt:lpstr>
      <vt:lpstr>AI-generated lab orchestration software</vt:lpstr>
      <vt:lpstr>From orchestration to closed-loop experiments</vt:lpstr>
      <vt:lpstr>Example: SLM and camera control software</vt:lpstr>
      <vt:lpstr>Real example: phase masks and calibration</vt:lpstr>
      <vt:lpstr>Live demo 2</vt:lpstr>
      <vt:lpstr>Scientific visualisation matters</vt:lpstr>
      <vt:lpstr>The good, the bad and the ugly</vt:lpstr>
      <vt:lpstr>Blender MCP + agents</vt:lpstr>
      <vt:lpstr>Example visualisation pipeline</vt:lpstr>
      <vt:lpstr>Practical advice for PhD students</vt:lpstr>
      <vt:lpstr>Limits and pitfalls</vt:lpstr>
      <vt:lpstr>Recommended stack</vt:lpstr>
      <vt:lpstr>The future researcher skillset: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Egor Manuylovich</dc:creator>
  <cp:lastModifiedBy>Egor M</cp:lastModifiedBy>
  <cp:revision>50</cp:revision>
  <dcterms:created xsi:type="dcterms:W3CDTF">2025-12-01T16:34:08Z</dcterms:created>
  <dcterms:modified xsi:type="dcterms:W3CDTF">2026-05-21T20:46:13Z</dcterms:modified>
</cp:coreProperties>
</file>